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61" r:id="rId5"/>
    <p:sldId id="258" r:id="rId6"/>
    <p:sldId id="259" r:id="rId7"/>
    <p:sldId id="260" r:id="rId8"/>
    <p:sldId id="262" r:id="rId9"/>
    <p:sldId id="263" r:id="rId10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517630-D352-6DBC-AF65-F685FA72F3F6}" v="589" dt="2025-07-01T23:20:45.305"/>
    <p1510:client id="{E4E2F671-14B1-4DDF-83F8-3A484313A1B6}" v="331" dt="2025-07-01T13:15:25.7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</p:spPr>
        <p:txBody>
          <a:bodyPr tIns="91440" bIns="91440" anchor="b">
            <a:noAutofit/>
          </a:bodyPr>
          <a:lstStyle/>
          <a:p>
            <a:r>
              <a:rPr lang="pt-BR" sz="52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Autofit/>
          </a:bodyPr>
          <a:lstStyle/>
          <a:p>
            <a:pPr algn="r">
              <a:lnSpc>
                <a:spcPct val="100000"/>
              </a:lnSpc>
            </a:pPr>
            <a:fld id="{6656FD21-7E6C-4373-A220-5205F4598658}" type="slidenum">
              <a:rPr lang="pt-BR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‹nº›</a:t>
            </a:fld>
            <a:endParaRPr lang="pt-BR" sz="10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tIns="91440" bIns="91440">
            <a:noAutofit/>
          </a:bodyPr>
          <a:lstStyle/>
          <a:p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tIns="91440" bIns="9144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da estrutura de tópicos</a:t>
            </a:r>
          </a:p>
        </p:txBody>
      </p:sp>
      <p:sp>
        <p:nvSpPr>
          <p:cNvPr id="41" name="PlaceHolder 3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Autofit/>
          </a:bodyPr>
          <a:lstStyle/>
          <a:p>
            <a:pPr algn="r">
              <a:lnSpc>
                <a:spcPct val="100000"/>
              </a:lnSpc>
            </a:pPr>
            <a:fld id="{EE050D71-FEF3-400E-A00F-B8FDC219312B}" type="slidenum">
              <a:rPr lang="pt-BR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‹nº›</a:t>
            </a:fld>
            <a:endParaRPr lang="pt-BR" sz="10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54;p13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99C4D4C-26A1-37BB-7ABD-367B48237C17}"/>
              </a:ext>
            </a:extLst>
          </p:cNvPr>
          <p:cNvSpPr txBox="1"/>
          <p:nvPr/>
        </p:nvSpPr>
        <p:spPr>
          <a:xfrm>
            <a:off x="914400" y="184324"/>
            <a:ext cx="51435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  <a:latin typeface="Aptos"/>
              </a:rPr>
              <a:t>ALGORITMOS DISTRIBUÍDOS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7BD74E2-5636-7EB8-08DB-D69E78180A29}"/>
              </a:ext>
            </a:extLst>
          </p:cNvPr>
          <p:cNvSpPr txBox="1"/>
          <p:nvPr/>
        </p:nvSpPr>
        <p:spPr>
          <a:xfrm>
            <a:off x="2411290" y="628650"/>
            <a:ext cx="214720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Aptos"/>
              </a:rPr>
              <a:t>SNAPSHOT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189CBF5-ABE7-F2FA-4A0F-8AF1DCC75605}"/>
              </a:ext>
            </a:extLst>
          </p:cNvPr>
          <p:cNvSpPr txBox="1"/>
          <p:nvPr/>
        </p:nvSpPr>
        <p:spPr>
          <a:xfrm>
            <a:off x="211015" y="1151478"/>
            <a:ext cx="669094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  <a:latin typeface="Aptos"/>
              </a:rPr>
              <a:t>Programa de Pós-Graduação em Ciência da Computação</a:t>
            </a:r>
            <a:r>
              <a:rPr lang="pt-BR" sz="2800" dirty="0">
                <a:solidFill>
                  <a:schemeClr val="bg1"/>
                </a:solidFill>
                <a:latin typeface="Aptos"/>
              </a:rPr>
              <a:t>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E9CB67C-AF27-6565-6795-C62111DB5045}"/>
              </a:ext>
            </a:extLst>
          </p:cNvPr>
          <p:cNvSpPr txBox="1"/>
          <p:nvPr/>
        </p:nvSpPr>
        <p:spPr>
          <a:xfrm>
            <a:off x="2118945" y="1670223"/>
            <a:ext cx="40268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  <a:latin typeface="Aptos"/>
              </a:rPr>
              <a:t>Sistemas Distribuídos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DBD63C1-084A-E96A-F50D-444F12294AC8}"/>
              </a:ext>
            </a:extLst>
          </p:cNvPr>
          <p:cNvSpPr txBox="1"/>
          <p:nvPr/>
        </p:nvSpPr>
        <p:spPr>
          <a:xfrm>
            <a:off x="1547443" y="2778053"/>
            <a:ext cx="402687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Aptos"/>
              </a:rPr>
              <a:t>Eduardo Gusmão</a:t>
            </a:r>
            <a:endParaRPr lang="pt-BR" sz="2400">
              <a:solidFill>
                <a:schemeClr val="bg1"/>
              </a:solidFill>
            </a:endParaRPr>
          </a:p>
          <a:p>
            <a:pPr algn="ctr"/>
            <a:r>
              <a:rPr lang="pt-BR" sz="2400" dirty="0">
                <a:solidFill>
                  <a:schemeClr val="bg1"/>
                </a:solidFill>
                <a:latin typeface="Aptos"/>
              </a:rPr>
              <a:t>Albert Jose Pereira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59;p14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3C670C2-50D6-CFED-C05C-A45A3A9D073A}"/>
              </a:ext>
            </a:extLst>
          </p:cNvPr>
          <p:cNvSpPr txBox="1"/>
          <p:nvPr/>
        </p:nvSpPr>
        <p:spPr>
          <a:xfrm>
            <a:off x="450919" y="341644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dirty="0"/>
              <a:t>INTRODUÇÃO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ADEDAD0-B8A3-5ADF-931E-337948F26EB1}"/>
              </a:ext>
            </a:extLst>
          </p:cNvPr>
          <p:cNvSpPr txBox="1"/>
          <p:nvPr/>
        </p:nvSpPr>
        <p:spPr>
          <a:xfrm>
            <a:off x="454059" y="781572"/>
            <a:ext cx="7854042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800" dirty="0">
                <a:latin typeface="Aptos"/>
              </a:rPr>
              <a:t>A elaboração de uma solução de Snapshot atende à característica de Tolerância a Falhas dentre as características que definem um sistema como distribuído.</a:t>
            </a:r>
          </a:p>
          <a:p>
            <a:pPr algn="just"/>
            <a:r>
              <a:rPr lang="pt-BR" sz="2800" dirty="0">
                <a:latin typeface="Aptos"/>
              </a:rPr>
              <a:t>A recuperação de um erro é fundamental para a tolerância a falhas. A ideia da recuperação de erros é substituir um estado errôneo por um estado sem erros. </a:t>
            </a:r>
          </a:p>
          <a:p>
            <a:pPr algn="l"/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D920EC-38E1-4F9C-C421-F71823DF8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02ABB-B2D8-AE48-B266-D658CDD4FAD7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Google Shape;64;p15">
            <a:extLst>
              <a:ext uri="{FF2B5EF4-FFF2-40B4-BE49-F238E27FC236}">
                <a16:creationId xmlns:a16="http://schemas.microsoft.com/office/drawing/2014/main" id="{74AB155C-B858-607A-F802-1B25C2867BA0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>
            <a:noFill/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0CCA1AD-0322-14AE-193B-2E9BDE81FFBE}"/>
              </a:ext>
            </a:extLst>
          </p:cNvPr>
          <p:cNvSpPr txBox="1"/>
          <p:nvPr/>
        </p:nvSpPr>
        <p:spPr>
          <a:xfrm>
            <a:off x="450919" y="341644"/>
            <a:ext cx="356371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/>
              <a:t>ALGORITMO </a:t>
            </a:r>
            <a:endParaRPr lang="pt-BR"/>
          </a:p>
          <a:p>
            <a:r>
              <a:rPr lang="pt-BR" sz="2800" dirty="0"/>
              <a:t>DE </a:t>
            </a:r>
            <a:endParaRPr lang="pt-BR" dirty="0"/>
          </a:p>
          <a:p>
            <a:r>
              <a:rPr lang="pt-BR" sz="2800" dirty="0"/>
              <a:t>CHAMDY-LAMPORT</a:t>
            </a:r>
            <a:endParaRPr lang="pt-BR" dirty="0"/>
          </a:p>
        </p:txBody>
      </p:sp>
      <p:pic>
        <p:nvPicPr>
          <p:cNvPr id="8" name="Imagem 7" descr="Diagrama&#10;&#10;O conteúdo gerado por IA pode estar incorreto.">
            <a:extLst>
              <a:ext uri="{FF2B5EF4-FFF2-40B4-BE49-F238E27FC236}">
                <a16:creationId xmlns:a16="http://schemas.microsoft.com/office/drawing/2014/main" id="{6822236D-613E-D4B1-0F11-77E07BA06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927" y="205383"/>
            <a:ext cx="3356975" cy="473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52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64;p15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8E8BEFA-6764-C4D7-A213-C90E29219D32}"/>
              </a:ext>
            </a:extLst>
          </p:cNvPr>
          <p:cNvSpPr txBox="1"/>
          <p:nvPr/>
        </p:nvSpPr>
        <p:spPr>
          <a:xfrm>
            <a:off x="450919" y="341644"/>
            <a:ext cx="412296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/>
              <a:t>COMO IMPLEMENTAR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FC38BB0-0E42-0F39-888F-4F343DF57804}"/>
              </a:ext>
            </a:extLst>
          </p:cNvPr>
          <p:cNvSpPr txBox="1"/>
          <p:nvPr/>
        </p:nvSpPr>
        <p:spPr>
          <a:xfrm>
            <a:off x="859134" y="2946050"/>
            <a:ext cx="22860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RECUPERAÇÃO</a:t>
            </a:r>
            <a:endParaRPr lang="pt-BR" dirty="0"/>
          </a:p>
          <a:p>
            <a:pPr marL="342900" indent="-342900">
              <a:buFont typeface="Arial"/>
              <a:buChar char="•"/>
            </a:pPr>
            <a:r>
              <a:rPr lang="pt-BR" sz="2000"/>
              <a:t>Reversa</a:t>
            </a:r>
            <a:endParaRPr lang="pt-BR"/>
          </a:p>
          <a:p>
            <a:pPr marL="342900" indent="-342900">
              <a:buFont typeface="Arial"/>
              <a:buChar char="•"/>
            </a:pPr>
            <a:r>
              <a:rPr lang="pt-BR" sz="2000" dirty="0"/>
              <a:t>Para Frente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06995FE-B58D-63C0-7593-6A71584DC46D}"/>
              </a:ext>
            </a:extLst>
          </p:cNvPr>
          <p:cNvSpPr txBox="1"/>
          <p:nvPr/>
        </p:nvSpPr>
        <p:spPr>
          <a:xfrm>
            <a:off x="859133" y="860389"/>
            <a:ext cx="2648996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CHECKPOINTING (REGISTRO)</a:t>
            </a:r>
          </a:p>
          <a:p>
            <a:pPr marL="342900" indent="-342900">
              <a:buFont typeface="Arial"/>
              <a:buChar char="•"/>
            </a:pPr>
            <a:r>
              <a:rPr lang="pt-BR" sz="2000" dirty="0"/>
              <a:t>Coordenado</a:t>
            </a:r>
          </a:p>
          <a:p>
            <a:pPr marL="342900" indent="-342900">
              <a:buFont typeface="Arial"/>
              <a:buChar char="•"/>
            </a:pPr>
            <a:r>
              <a:rPr lang="pt-BR" sz="2000" dirty="0"/>
              <a:t>Independente</a:t>
            </a:r>
          </a:p>
          <a:p>
            <a:pPr marL="342900" indent="-342900">
              <a:buFont typeface="Arial"/>
              <a:buChar char="•"/>
            </a:pPr>
            <a:r>
              <a:rPr lang="pt-BR" sz="2000" dirty="0" err="1"/>
              <a:t>Message</a:t>
            </a:r>
            <a:r>
              <a:rPr lang="pt-BR" sz="2000" dirty="0"/>
              <a:t> </a:t>
            </a:r>
            <a:r>
              <a:rPr lang="pt-BR" sz="2000" dirty="0" err="1"/>
              <a:t>Logging</a:t>
            </a:r>
            <a:endParaRPr lang="pt-BR" sz="2000" dirty="0"/>
          </a:p>
          <a:p>
            <a:pPr marL="342900" indent="-342900">
              <a:buFont typeface="Arial"/>
              <a:buChar char="•"/>
            </a:pPr>
            <a:endParaRPr lang="pt-BR" sz="2000" dirty="0"/>
          </a:p>
        </p:txBody>
      </p:sp>
      <p:pic>
        <p:nvPicPr>
          <p:cNvPr id="2" name="Imagem 1" descr="Imagem">
            <a:extLst>
              <a:ext uri="{FF2B5EF4-FFF2-40B4-BE49-F238E27FC236}">
                <a16:creationId xmlns:a16="http://schemas.microsoft.com/office/drawing/2014/main" id="{99BC701C-0568-947E-490B-760C23715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0300" y="739548"/>
            <a:ext cx="5575685" cy="1835603"/>
          </a:xfrm>
          <a:prstGeom prst="rect">
            <a:avLst/>
          </a:prstGeom>
        </p:spPr>
      </p:pic>
      <p:pic>
        <p:nvPicPr>
          <p:cNvPr id="7" name="Imagem 6" descr="Diagrama, Linha do tempo&#10;&#10;O conteúdo gerado por IA pode estar incorreto.">
            <a:extLst>
              <a:ext uri="{FF2B5EF4-FFF2-40B4-BE49-F238E27FC236}">
                <a16:creationId xmlns:a16="http://schemas.microsoft.com/office/drawing/2014/main" id="{0F919FBF-5EFA-EF49-7505-23EBD07D4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7868" y="2694213"/>
            <a:ext cx="3445329" cy="2294165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2AEC262C-05BF-8D61-320B-FA419AD79215}"/>
              </a:ext>
            </a:extLst>
          </p:cNvPr>
          <p:cNvCxnSpPr/>
          <p:nvPr/>
        </p:nvCxnSpPr>
        <p:spPr>
          <a:xfrm>
            <a:off x="684250" y="2623808"/>
            <a:ext cx="8358378" cy="11162"/>
          </a:xfrm>
          <a:prstGeom prst="straightConnector1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69;p16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94F7F38-AD0F-E96E-DA49-DFF013D308E6}"/>
              </a:ext>
            </a:extLst>
          </p:cNvPr>
          <p:cNvSpPr txBox="1"/>
          <p:nvPr/>
        </p:nvSpPr>
        <p:spPr>
          <a:xfrm>
            <a:off x="450919" y="869006"/>
            <a:ext cx="354151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RECUPERAÇÃO REVERSA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67FF98C-F908-A3FA-00D4-707BD6CDDA07}"/>
              </a:ext>
            </a:extLst>
          </p:cNvPr>
          <p:cNvSpPr txBox="1"/>
          <p:nvPr/>
        </p:nvSpPr>
        <p:spPr>
          <a:xfrm>
            <a:off x="450919" y="341644"/>
            <a:ext cx="412296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/>
              <a:t>SOLUÇÃO DEFINIDA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6B91199-EA85-D8B7-CF9C-E5C83276B6DC}"/>
              </a:ext>
            </a:extLst>
          </p:cNvPr>
          <p:cNvSpPr txBox="1"/>
          <p:nvPr/>
        </p:nvSpPr>
        <p:spPr>
          <a:xfrm>
            <a:off x="4174088" y="869006"/>
            <a:ext cx="398876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dirty="0"/>
              <a:t>CHECKPOINT COORDENADO</a:t>
            </a:r>
          </a:p>
        </p:txBody>
      </p:sp>
      <p:pic>
        <p:nvPicPr>
          <p:cNvPr id="6" name="Imagem 5" descr="Diagrama, Esquemático&#10;&#10;O conteúdo gerado por IA pode estar incorreto.">
            <a:extLst>
              <a:ext uri="{FF2B5EF4-FFF2-40B4-BE49-F238E27FC236}">
                <a16:creationId xmlns:a16="http://schemas.microsoft.com/office/drawing/2014/main" id="{CF308818-37AA-1020-899B-7DB5C7857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56" y="1375171"/>
            <a:ext cx="2670572" cy="3036094"/>
          </a:xfrm>
          <a:prstGeom prst="rect">
            <a:avLst/>
          </a:prstGeom>
        </p:spPr>
      </p:pic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A2CDC12B-7A62-930A-DB4E-181E3AC21A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744" y="1268016"/>
            <a:ext cx="2365341" cy="3375421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0922B7F7-C3F9-31E8-311A-16911A97C745}"/>
              </a:ext>
            </a:extLst>
          </p:cNvPr>
          <p:cNvCxnSpPr/>
          <p:nvPr/>
        </p:nvCxnSpPr>
        <p:spPr>
          <a:xfrm>
            <a:off x="3972740" y="870431"/>
            <a:ext cx="11162" cy="4028537"/>
          </a:xfrm>
          <a:prstGeom prst="straightConnector1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74;p17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390BE1C-3E6D-69DB-B0AB-5DD1EE3426F3}"/>
              </a:ext>
            </a:extLst>
          </p:cNvPr>
          <p:cNvSpPr txBox="1"/>
          <p:nvPr/>
        </p:nvSpPr>
        <p:spPr>
          <a:xfrm>
            <a:off x="450919" y="341644"/>
            <a:ext cx="3119778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/>
              <a:t>DIAGRAMA </a:t>
            </a:r>
            <a:endParaRPr lang="pt-BR"/>
          </a:p>
          <a:p>
            <a:r>
              <a:rPr lang="pt-BR" sz="2800" dirty="0"/>
              <a:t>DE </a:t>
            </a:r>
            <a:endParaRPr lang="pt-BR" dirty="0"/>
          </a:p>
          <a:p>
            <a:r>
              <a:rPr lang="pt-BR" sz="2800" dirty="0"/>
              <a:t>COMPONENTES</a:t>
            </a:r>
            <a:endParaRPr lang="pt-BR" dirty="0"/>
          </a:p>
        </p:txBody>
      </p:sp>
      <p:pic>
        <p:nvPicPr>
          <p:cNvPr id="6" name="Imagem 5" descr="Imagem">
            <a:extLst>
              <a:ext uri="{FF2B5EF4-FFF2-40B4-BE49-F238E27FC236}">
                <a16:creationId xmlns:a16="http://schemas.microsoft.com/office/drawing/2014/main" id="{9AA02CE4-B7D2-829D-0CFA-3B39CA919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709" y="129848"/>
            <a:ext cx="3507889" cy="48796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8822C-D300-095C-7CD1-419366A5A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74;p17">
            <a:extLst>
              <a:ext uri="{FF2B5EF4-FFF2-40B4-BE49-F238E27FC236}">
                <a16:creationId xmlns:a16="http://schemas.microsoft.com/office/drawing/2014/main" id="{D1BF799A-A9C4-8117-BA6E-F434E5A37D3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C1314B4-3712-D8E3-DC5D-80F73459C2B8}"/>
              </a:ext>
            </a:extLst>
          </p:cNvPr>
          <p:cNvSpPr txBox="1"/>
          <p:nvPr/>
        </p:nvSpPr>
        <p:spPr>
          <a:xfrm>
            <a:off x="450919" y="341644"/>
            <a:ext cx="553972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/>
              <a:t>DIAGRAMA DE CLASSES</a:t>
            </a:r>
            <a:endParaRPr lang="pt-BR" dirty="0"/>
          </a:p>
        </p:txBody>
      </p:sp>
      <p:pic>
        <p:nvPicPr>
          <p:cNvPr id="2" name="Imagem 1" descr="Imagem">
            <a:extLst>
              <a:ext uri="{FF2B5EF4-FFF2-40B4-BE49-F238E27FC236}">
                <a16:creationId xmlns:a16="http://schemas.microsoft.com/office/drawing/2014/main" id="{83A76BBA-A6B0-3619-2FE1-F89220EE9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14" y="1213647"/>
            <a:ext cx="6858000" cy="356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766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5B7BA-0BA0-48C4-5816-5F0DBB9D7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74;p17">
            <a:extLst>
              <a:ext uri="{FF2B5EF4-FFF2-40B4-BE49-F238E27FC236}">
                <a16:creationId xmlns:a16="http://schemas.microsoft.com/office/drawing/2014/main" id="{2122C56A-FA2E-A713-FF16-AFA385D9F2EF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5FEFDE4-8855-2A45-948A-7ECEA02E9B67}"/>
              </a:ext>
            </a:extLst>
          </p:cNvPr>
          <p:cNvSpPr txBox="1"/>
          <p:nvPr/>
        </p:nvSpPr>
        <p:spPr>
          <a:xfrm>
            <a:off x="450919" y="341644"/>
            <a:ext cx="553972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/>
              <a:t>DIAGRAMA DE SEQUÊNCIA</a:t>
            </a:r>
          </a:p>
        </p:txBody>
      </p:sp>
      <p:pic>
        <p:nvPicPr>
          <p:cNvPr id="4" name="Imagem 3" descr="Imagem">
            <a:extLst>
              <a:ext uri="{FF2B5EF4-FFF2-40B4-BE49-F238E27FC236}">
                <a16:creationId xmlns:a16="http://schemas.microsoft.com/office/drawing/2014/main" id="{EF82A564-BFAB-26DE-66E0-908FE9CBC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57" y="864734"/>
            <a:ext cx="7709808" cy="404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110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Apresentação na tela (16:9)</PresentationFormat>
  <Slides>8</Slides>
  <Notes>0</Notes>
  <HiddenSlides>0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8</vt:i4>
      </vt:variant>
    </vt:vector>
  </HeadingPairs>
  <TitlesOfParts>
    <vt:vector size="10" baseType="lpstr"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/>
  <cp:revision>204</cp:revision>
  <dcterms:modified xsi:type="dcterms:W3CDTF">2025-07-02T12:47:39Z</dcterms:modified>
  <dc:language>pt-BR</dc:language>
</cp:coreProperties>
</file>